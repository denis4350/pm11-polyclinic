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3216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hyperlink" Target="https://ado.net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im_a_wide_dark_futuristic_agriculture_biotech_them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305" y="27432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566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33F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Производственная</a:t>
            </a:r>
            <a:r>
              <a:rPr lang="en-US" sz="1050" b="1" dirty="0">
                <a:solidFill>
                  <a:srgbClr val="33F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практика • ПМ.</a:t>
            </a:r>
            <a:r>
              <a:rPr lang="ru-RU" sz="1050" b="1" dirty="0">
                <a:solidFill>
                  <a:srgbClr val="33F0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849702" y="1243585"/>
            <a:ext cx="6400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Информационная система поликлиники для учёта пациентов и управления медицинскими процессами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13232" y="251460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13232" y="3255264"/>
            <a:ext cx="2011680" cy="0"/>
          </a:xfrm>
          <a:prstGeom prst="line">
            <a:avLst/>
          </a:prstGeom>
          <a:noFill/>
          <a:ln w="25400">
            <a:solidFill>
              <a:srgbClr val="33F0C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713232" y="3456432"/>
            <a:ext cx="5303520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400" dirty="0">
                <a:solidFill>
                  <a:schemeClr val="bg1"/>
                </a:solidFill>
              </a:rPr>
              <a:t>Выполнил: </a:t>
            </a:r>
          </a:p>
          <a:p>
            <a:r>
              <a:rPr lang="ru-RU" sz="1400" dirty="0">
                <a:solidFill>
                  <a:schemeClr val="bg1"/>
                </a:solidFill>
              </a:rPr>
              <a:t>Корякин Денис Алексеевич</a:t>
            </a:r>
          </a:p>
          <a:p>
            <a:r>
              <a:rPr lang="ru-RU" sz="1400" dirty="0">
                <a:solidFill>
                  <a:schemeClr val="bg1"/>
                </a:solidFill>
              </a:rPr>
              <a:t>Группа 23П-2</a:t>
            </a:r>
          </a:p>
          <a:p>
            <a:r>
              <a:rPr lang="ru-RU" sz="1400" dirty="0">
                <a:solidFill>
                  <a:schemeClr val="bg1"/>
                </a:solidFill>
              </a:rPr>
              <a:t>Специальность: </a:t>
            </a:r>
          </a:p>
          <a:p>
            <a:r>
              <a:rPr lang="ru-RU" sz="1400" dirty="0">
                <a:solidFill>
                  <a:schemeClr val="bg1"/>
                </a:solidFill>
              </a:rPr>
              <a:t>09.02.07 Информационные системы и программирование</a:t>
            </a:r>
          </a:p>
          <a:p>
            <a:r>
              <a:rPr lang="ru-RU" sz="1400" dirty="0">
                <a:solidFill>
                  <a:schemeClr val="bg1"/>
                </a:solidFill>
              </a:rPr>
              <a:t>Форма обучения: очная</a:t>
            </a:r>
          </a:p>
          <a:p>
            <a:r>
              <a:rPr lang="ru-RU" sz="1400" dirty="0" err="1">
                <a:solidFill>
                  <a:schemeClr val="bg1"/>
                </a:solidFill>
              </a:rPr>
              <a:t>Руководитель:Арбузов</a:t>
            </a:r>
            <a:r>
              <a:rPr lang="ru-RU" sz="1400" dirty="0">
                <a:solidFill>
                  <a:schemeClr val="bg1"/>
                </a:solidFill>
              </a:rPr>
              <a:t> Иван Андреевич</a:t>
            </a:r>
          </a:p>
        </p:txBody>
      </p:sp>
      <p:sp>
        <p:nvSpPr>
          <p:cNvPr id="8" name="Text 5"/>
          <p:cNvSpPr/>
          <p:nvPr/>
        </p:nvSpPr>
        <p:spPr>
          <a:xfrm>
            <a:off x="10378440" y="60624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B8DFF">
                    <a:alpha val="95000"/>
                  </a:srgb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PM.</a:t>
            </a:r>
            <a:r>
              <a:rPr lang="ru-RU" sz="2000" b="1" dirty="0">
                <a:solidFill>
                  <a:srgbClr val="3B8DFF">
                    <a:alpha val="95000"/>
                  </a:srgb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im_a_wide_dark_futuristic_agriculture_biotech_them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291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F0C6"/>
                </a:solidFill>
                <a:latin typeface="Aptos Display" pitchFamily="34" charset="0"/>
              </a:rPr>
              <a:t>02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1106424" y="448056"/>
            <a:ext cx="438912" cy="0"/>
          </a:xfrm>
          <a:prstGeom prst="line">
            <a:avLst/>
          </a:prstGeom>
          <a:noFill/>
          <a:ln w="15240">
            <a:solidFill>
              <a:srgbClr val="33F0C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566928" y="694944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700" b="1" dirty="0">
                <a:solidFill>
                  <a:schemeClr val="bg1"/>
                </a:solidFill>
              </a:rPr>
              <a:t>Цель и задачи практики</a:t>
            </a:r>
          </a:p>
        </p:txBody>
      </p:sp>
      <p:sp>
        <p:nvSpPr>
          <p:cNvPr id="6" name="Text 3"/>
          <p:cNvSpPr/>
          <p:nvPr/>
        </p:nvSpPr>
        <p:spPr>
          <a:xfrm>
            <a:off x="5943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28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018520" y="6428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85800" y="187452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00" b="1" dirty="0">
                <a:solidFill>
                  <a:srgbClr val="F5FAFF"/>
                </a:solidFill>
                <a:latin typeface="Aptos Display" pitchFamily="34" charset="0"/>
              </a:rPr>
              <a:t>Цель</a:t>
            </a:r>
            <a:r>
              <a:rPr lang="en-US" sz="1500" b="1" dirty="0">
                <a:solidFill>
                  <a:srgbClr val="F5FAFF"/>
                </a:solidFill>
                <a:latin typeface="Aptos Display" pitchFamily="34" charset="0"/>
              </a:rPr>
              <a:t>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2258568"/>
            <a:ext cx="498348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разработать базу данных и приложение для учёта пациентов и записи к врачу.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685800" y="379476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00" b="1" dirty="0">
                <a:solidFill>
                  <a:srgbClr val="F5FAFF"/>
                </a:solidFill>
                <a:latin typeface="Aptos Display" pitchFamily="34" charset="0"/>
              </a:rPr>
              <a:t>Задачи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" y="4178808"/>
            <a:ext cx="4983480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</a:rPr>
              <a:t>Провести анализ предметной области.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</a:rPr>
              <a:t>Спроектировать нормализованную БД.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</a:rPr>
              <a:t>Реализовать БД в MS SQL Server.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</a:rPr>
              <a:t>Разработать WPF-приложение с авторизацией и разграничением прав.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</a:rPr>
              <a:t>Реализовать CRUD-операции, отчёты, резервное копирование.</a:t>
            </a:r>
          </a:p>
          <a:p>
            <a:pPr marL="0" indent="0">
              <a:buNone/>
            </a:pPr>
            <a:endParaRPr lang="en-US" sz="13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im_a_wide_dark_tech_themed_abstract_digital_backgro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291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F0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1106424" y="448056"/>
            <a:ext cx="438912" cy="0"/>
          </a:xfrm>
          <a:prstGeom prst="line">
            <a:avLst/>
          </a:prstGeom>
          <a:noFill/>
          <a:ln w="15240">
            <a:solidFill>
              <a:srgbClr val="33F0C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566928" y="694944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800" b="1" dirty="0">
                <a:solidFill>
                  <a:schemeClr val="bg1"/>
                </a:solidFill>
              </a:rPr>
              <a:t>Анализ и выделение объектов</a:t>
            </a:r>
          </a:p>
        </p:txBody>
      </p:sp>
      <p:sp>
        <p:nvSpPr>
          <p:cNvPr id="6" name="Text 3"/>
          <p:cNvSpPr/>
          <p:nvPr/>
        </p:nvSpPr>
        <p:spPr>
          <a:xfrm>
            <a:off x="5943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28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018520" y="6428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48640" y="1243584"/>
            <a:ext cx="5825591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dirty="0">
                <a:solidFill>
                  <a:schemeClr val="bg1"/>
                </a:solidFill>
              </a:rPr>
              <a:t>Выделены сущности: Пациент, Врач, Приём, Диагноз, Назначение, Лаборатория, Пользователь и др.</a:t>
            </a:r>
          </a:p>
          <a:p>
            <a:r>
              <a:rPr lang="ru-RU" dirty="0">
                <a:solidFill>
                  <a:schemeClr val="bg1"/>
                </a:solidFill>
              </a:rPr>
              <a:t>Всего </a:t>
            </a:r>
            <a:r>
              <a:rPr lang="ru-RU" b="1" dirty="0">
                <a:solidFill>
                  <a:schemeClr val="bg1"/>
                </a:solidFill>
              </a:rPr>
              <a:t>14 таблиц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r>
              <a:rPr lang="ru-RU" dirty="0">
                <a:solidFill>
                  <a:schemeClr val="bg1"/>
                </a:solidFill>
              </a:rPr>
              <a:t>Определены атрибуты каждой сущности</a:t>
            </a: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749808" y="55961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BB5B8F5-6433-E594-E116-5C5757402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493" y="3806213"/>
            <a:ext cx="6125430" cy="23911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im_a_wide_dark_tech_themed_abstract_digital_backgro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291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F0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1106424" y="448056"/>
            <a:ext cx="438912" cy="0"/>
          </a:xfrm>
          <a:prstGeom prst="line">
            <a:avLst/>
          </a:prstGeom>
          <a:noFill/>
          <a:ln w="15240">
            <a:solidFill>
              <a:srgbClr val="33F0C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566928" y="694944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400" b="1" dirty="0">
                <a:solidFill>
                  <a:schemeClr val="bg1"/>
                </a:solidFill>
              </a:rPr>
              <a:t>Концептуальная модель (</a:t>
            </a:r>
            <a:r>
              <a:rPr lang="ro-RO" sz="2400" b="1" dirty="0">
                <a:solidFill>
                  <a:schemeClr val="bg1"/>
                </a:solidFill>
              </a:rPr>
              <a:t>ER-</a:t>
            </a:r>
            <a:r>
              <a:rPr lang="ru-RU" sz="2400" b="1" dirty="0">
                <a:solidFill>
                  <a:schemeClr val="bg1"/>
                </a:solidFill>
              </a:rPr>
              <a:t>диаграмма)</a:t>
            </a:r>
          </a:p>
        </p:txBody>
      </p:sp>
      <p:sp>
        <p:nvSpPr>
          <p:cNvPr id="6" name="Text 3"/>
          <p:cNvSpPr/>
          <p:nvPr/>
        </p:nvSpPr>
        <p:spPr>
          <a:xfrm>
            <a:off x="5943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28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018520" y="6428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4/14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49808" y="21488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9808" y="1554480"/>
            <a:ext cx="4937760" cy="3154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Показана ER-диаграмма «сущность–связь».</a:t>
            </a:r>
          </a:p>
          <a:p>
            <a:r>
              <a:rPr lang="ru-RU" sz="2000" dirty="0">
                <a:solidFill>
                  <a:schemeClr val="bg1"/>
                </a:solidFill>
              </a:rPr>
              <a:t>Отражены связи: 1:N, 1:1, с указанием первичных и внешних ключей.</a:t>
            </a:r>
          </a:p>
        </p:txBody>
      </p:sp>
      <p:sp>
        <p:nvSpPr>
          <p:cNvPr id="14" name="Text 11"/>
          <p:cNvSpPr/>
          <p:nvPr/>
        </p:nvSpPr>
        <p:spPr>
          <a:xfrm>
            <a:off x="329184" y="576072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1289304" y="576072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2249424" y="576072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3209544" y="576072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4169664" y="576072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5129784" y="576072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6446520" y="1645920"/>
            <a:ext cx="4983480" cy="4526280"/>
          </a:xfrm>
          <a:prstGeom prst="rect">
            <a:avLst/>
          </a:prstGeom>
          <a:solidFill>
            <a:srgbClr val="09213A">
              <a:alpha val="80000"/>
            </a:srgbClr>
          </a:solidFill>
          <a:ln w="17145">
            <a:solidFill>
              <a:srgbClr val="33F0C6">
                <a:alpha val="6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FF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＋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B8FF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место для скрина модуля технолога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B8FF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главная страница, рецептура или отчёты</a:t>
            </a:r>
            <a:endParaRPr lang="en-US" sz="1500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482B597A-43B2-CBC9-3B46-ABEC63D3F8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046" y="1468851"/>
            <a:ext cx="5845911" cy="46942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2747A88C-5572-B33E-F32D-DC2497C9FF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142" y="2937927"/>
            <a:ext cx="3986784" cy="37583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im_a_wide_dark_futuristic_abstract_background_scen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291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F0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1106424" y="448056"/>
            <a:ext cx="438912" cy="0"/>
          </a:xfrm>
          <a:prstGeom prst="line">
            <a:avLst/>
          </a:prstGeom>
          <a:noFill/>
          <a:ln w="15240">
            <a:solidFill>
              <a:srgbClr val="33F0C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566928" y="694944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400" b="1" dirty="0">
                <a:solidFill>
                  <a:schemeClr val="bg1"/>
                </a:solidFill>
              </a:rPr>
              <a:t>Реализация базы данных в MS SQL Server</a:t>
            </a:r>
          </a:p>
        </p:txBody>
      </p:sp>
      <p:sp>
        <p:nvSpPr>
          <p:cNvPr id="6" name="Text 3"/>
          <p:cNvSpPr/>
          <p:nvPr/>
        </p:nvSpPr>
        <p:spPr>
          <a:xfrm>
            <a:off x="5943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28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018520" y="6428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5/14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49808" y="21488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9808" y="2532888"/>
            <a:ext cx="4937760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Скрипт CREATE DATABASE и CREATE TABLE.</a:t>
            </a:r>
          </a:p>
          <a:p>
            <a:r>
              <a:rPr lang="ru-RU" dirty="0">
                <a:solidFill>
                  <a:schemeClr val="bg1"/>
                </a:solidFill>
              </a:rPr>
              <a:t>Заполнение демонстрационными данными: </a:t>
            </a:r>
            <a:r>
              <a:rPr lang="ru-RU" b="1" dirty="0">
                <a:solidFill>
                  <a:schemeClr val="bg1"/>
                </a:solidFill>
              </a:rPr>
              <a:t>&gt; 1700 записей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r>
              <a:rPr lang="ru-RU" dirty="0">
                <a:solidFill>
                  <a:schemeClr val="bg1"/>
                </a:solidFill>
              </a:rPr>
              <a:t>Примеры таблиц с данными (первые 10 строк).</a:t>
            </a:r>
          </a:p>
        </p:txBody>
      </p:sp>
      <p:sp>
        <p:nvSpPr>
          <p:cNvPr id="14" name="Text 11"/>
          <p:cNvSpPr/>
          <p:nvPr/>
        </p:nvSpPr>
        <p:spPr>
          <a:xfrm>
            <a:off x="329184" y="578815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1426464" y="578815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2523744" y="578815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3621024" y="578815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4718304" y="578815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CF5374B-98F9-C920-0F41-ABA79EA18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2" y="1329997"/>
            <a:ext cx="4937758" cy="50575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im_a_wide_dark_futuristic_agriculture_biotech_them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291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F0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1106424" y="448056"/>
            <a:ext cx="438912" cy="0"/>
          </a:xfrm>
          <a:prstGeom prst="line">
            <a:avLst/>
          </a:prstGeom>
          <a:noFill/>
          <a:ln w="15240">
            <a:solidFill>
              <a:srgbClr val="33F0C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566928" y="694944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3200" b="1" dirty="0">
                <a:solidFill>
                  <a:schemeClr val="bg1"/>
                </a:solidFill>
              </a:rPr>
              <a:t>Разработка приложения</a:t>
            </a:r>
          </a:p>
        </p:txBody>
      </p:sp>
      <p:sp>
        <p:nvSpPr>
          <p:cNvPr id="6" name="Text 3"/>
          <p:cNvSpPr/>
          <p:nvPr/>
        </p:nvSpPr>
        <p:spPr>
          <a:xfrm>
            <a:off x="5943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28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018520" y="6428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6/14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49808" y="21488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9808" y="2532888"/>
            <a:ext cx="4937760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Технологии: </a:t>
            </a:r>
            <a:r>
              <a:rPr lang="ro-RO" dirty="0">
                <a:solidFill>
                  <a:schemeClr val="bg1"/>
                </a:solidFill>
              </a:rPr>
              <a:t>C# 7.3, WPF .NET Framework 4.8, </a:t>
            </a:r>
            <a:r>
              <a:rPr lang="ro-RO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ADO.NET</a:t>
            </a:r>
            <a:r>
              <a:rPr lang="ro-RO" dirty="0">
                <a:solidFill>
                  <a:schemeClr val="bg1"/>
                </a:solidFill>
              </a:rPr>
              <a:t> EDM (</a:t>
            </a:r>
            <a:r>
              <a:rPr lang="ro-RO" dirty="0" err="1">
                <a:solidFill>
                  <a:schemeClr val="bg1"/>
                </a:solidFill>
              </a:rPr>
              <a:t>Entity</a:t>
            </a:r>
            <a:r>
              <a:rPr lang="ro-RO" dirty="0">
                <a:solidFill>
                  <a:schemeClr val="bg1"/>
                </a:solidFill>
              </a:rPr>
              <a:t> Framework 6).</a:t>
            </a:r>
          </a:p>
          <a:p>
            <a:r>
              <a:rPr lang="ru-RU" dirty="0">
                <a:solidFill>
                  <a:schemeClr val="bg1"/>
                </a:solidFill>
              </a:rPr>
              <a:t>Интерфейс: </a:t>
            </a:r>
            <a:r>
              <a:rPr lang="ro-RO" dirty="0">
                <a:solidFill>
                  <a:schemeClr val="bg1"/>
                </a:solidFill>
              </a:rPr>
              <a:t>Material Design In XAML (</a:t>
            </a:r>
            <a:r>
              <a:rPr lang="ru-RU" dirty="0">
                <a:solidFill>
                  <a:schemeClr val="bg1"/>
                </a:solidFill>
              </a:rPr>
              <a:t>кнопки, карточки, выдвижное меню).</a:t>
            </a:r>
          </a:p>
          <a:p>
            <a:r>
              <a:rPr lang="ru-RU" dirty="0">
                <a:solidFill>
                  <a:schemeClr val="bg1"/>
                </a:solidFill>
              </a:rPr>
              <a:t>Главное окно с навигацией по модулям.</a:t>
            </a:r>
          </a:p>
          <a:p>
            <a:pPr marL="0" indent="0">
              <a:buNone/>
            </a:pP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329184" y="578815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1426464" y="578815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2523744" y="578815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3621024" y="578815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4718304" y="5788152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A3FC980-CF1E-C96D-74D3-4C85157D11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275" y="1525905"/>
            <a:ext cx="5960110" cy="39433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im_a_wide_dark_tech_themed_abstract_digital_backgro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291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F0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1106424" y="448056"/>
            <a:ext cx="438912" cy="0"/>
          </a:xfrm>
          <a:prstGeom prst="line">
            <a:avLst/>
          </a:prstGeom>
          <a:noFill/>
          <a:ln w="15240">
            <a:solidFill>
              <a:srgbClr val="33F0C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566928" y="694944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000" b="1" dirty="0">
                <a:solidFill>
                  <a:schemeClr val="bg1"/>
                </a:solidFill>
              </a:rPr>
              <a:t>Авторизация и разграничение прав доступа</a:t>
            </a:r>
          </a:p>
        </p:txBody>
      </p:sp>
      <p:sp>
        <p:nvSpPr>
          <p:cNvPr id="6" name="Text 3"/>
          <p:cNvSpPr/>
          <p:nvPr/>
        </p:nvSpPr>
        <p:spPr>
          <a:xfrm>
            <a:off x="5943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28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018520" y="6428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713232" y="17830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" y="2167128"/>
            <a:ext cx="5212080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Таблица «Пользователи» (логин, MD5-хеш пароля, роль).</a:t>
            </a:r>
          </a:p>
          <a:p>
            <a:r>
              <a:rPr lang="ru-RU" sz="2400" dirty="0">
                <a:solidFill>
                  <a:schemeClr val="bg1"/>
                </a:solidFill>
              </a:rPr>
              <a:t>Роли: 1-Админ, 2-Регистратор, 3-Врач, 4-Лаборант, 5-Главный врач.</a:t>
            </a:r>
          </a:p>
          <a:p>
            <a:r>
              <a:rPr lang="ru-RU" sz="2400" dirty="0">
                <a:solidFill>
                  <a:schemeClr val="bg1"/>
                </a:solidFill>
              </a:rPr>
              <a:t>Окно входа и примеры интерфейса для разных ролей.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749808" y="5349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435608" y="54223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246120" y="5349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931920" y="54223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C53E7E3-BB98-0BF9-8660-615FCF9FE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088" y="124813"/>
            <a:ext cx="4526344" cy="34036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9AD0ADD-63C7-C83F-B937-87D835FCD9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4144" y="3719993"/>
            <a:ext cx="4397375" cy="29094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im_a_wide_dark_tech_themed_abstract_digital_backgro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291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F0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1106424" y="448056"/>
            <a:ext cx="438912" cy="0"/>
          </a:xfrm>
          <a:prstGeom prst="line">
            <a:avLst/>
          </a:prstGeom>
          <a:noFill/>
          <a:ln w="15240">
            <a:solidFill>
              <a:srgbClr val="33F0C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566928" y="694944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800" b="1" dirty="0">
                <a:solidFill>
                  <a:schemeClr val="bg1"/>
                </a:solidFill>
              </a:rPr>
              <a:t>Реализация </a:t>
            </a:r>
            <a:r>
              <a:rPr lang="ro-RO" sz="2800" b="1" dirty="0">
                <a:solidFill>
                  <a:schemeClr val="bg1"/>
                </a:solidFill>
              </a:rPr>
              <a:t>CRUD-</a:t>
            </a:r>
            <a:r>
              <a:rPr lang="ru-RU" sz="2800" b="1" dirty="0">
                <a:solidFill>
                  <a:schemeClr val="bg1"/>
                </a:solidFill>
              </a:rPr>
              <a:t>операций</a:t>
            </a:r>
          </a:p>
        </p:txBody>
      </p:sp>
      <p:sp>
        <p:nvSpPr>
          <p:cNvPr id="6" name="Text 3"/>
          <p:cNvSpPr/>
          <p:nvPr/>
        </p:nvSpPr>
        <p:spPr>
          <a:xfrm>
            <a:off x="5943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28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018520" y="6428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713232" y="17830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" y="2167128"/>
            <a:ext cx="5212080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Окна для пациентов, врачей, кабинетов, приёмов и др.</a:t>
            </a:r>
          </a:p>
          <a:p>
            <a:r>
              <a:rPr lang="ru-RU" dirty="0">
                <a:solidFill>
                  <a:schemeClr val="bg1"/>
                </a:solidFill>
              </a:rPr>
              <a:t>Пример: добавление нового пациента (форма с полями).</a:t>
            </a:r>
          </a:p>
          <a:p>
            <a:r>
              <a:rPr lang="ru-RU" dirty="0">
                <a:solidFill>
                  <a:schemeClr val="bg1"/>
                </a:solidFill>
              </a:rPr>
              <a:t>Кнопки «Добавить», «Изменить», «Удалить» доступны в зависимости от роли.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84F2F09-F8AF-BB15-A9A3-62028276C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223" y="1848813"/>
            <a:ext cx="5591817" cy="39376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im_a_wide_dark_tech_themed_abstract_digital_backgro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291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F0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1106424" y="448056"/>
            <a:ext cx="438912" cy="0"/>
          </a:xfrm>
          <a:prstGeom prst="line">
            <a:avLst/>
          </a:prstGeom>
          <a:noFill/>
          <a:ln w="15240">
            <a:solidFill>
              <a:srgbClr val="33F0C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566928" y="694944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800" b="1" dirty="0">
                <a:solidFill>
                  <a:schemeClr val="bg1"/>
                </a:solidFill>
              </a:rPr>
              <a:t>Запросы и отчёты</a:t>
            </a:r>
          </a:p>
        </p:txBody>
      </p:sp>
      <p:sp>
        <p:nvSpPr>
          <p:cNvPr id="6" name="Text 3"/>
          <p:cNvSpPr/>
          <p:nvPr/>
        </p:nvSpPr>
        <p:spPr>
          <a:xfrm>
            <a:off x="5943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28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018520" y="6428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713232" y="17830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" y="2167128"/>
            <a:ext cx="5212080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Четыре основных отчёта: приёмы за период, загруженность врачей, история пациента, лаборатория.</a:t>
            </a:r>
          </a:p>
          <a:p>
            <a:r>
              <a:rPr lang="ru-RU" dirty="0">
                <a:solidFill>
                  <a:schemeClr val="bg1"/>
                </a:solidFill>
              </a:rPr>
              <a:t>Выбор дат, фильтры</a:t>
            </a:r>
          </a:p>
          <a:p>
            <a:r>
              <a:rPr lang="ru-RU" dirty="0">
                <a:solidFill>
                  <a:schemeClr val="bg1"/>
                </a:solidFill>
              </a:rPr>
              <a:t>Экспорт в PDF (кнопка «PDF для печати»).</a:t>
            </a:r>
          </a:p>
        </p:txBody>
      </p:sp>
      <p:sp>
        <p:nvSpPr>
          <p:cNvPr id="13" name="Text 10"/>
          <p:cNvSpPr/>
          <p:nvPr/>
        </p:nvSpPr>
        <p:spPr>
          <a:xfrm>
            <a:off x="329184" y="5733288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1426464" y="5733288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2523744" y="5733288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3621024" y="5733288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4718304" y="5733288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60BF1B9-89EF-5BB8-A733-85FA9A347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108" y="1689671"/>
            <a:ext cx="6450519" cy="39084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im_a_wide_dark_futuristic_abstract_background_scene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291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F0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1106424" y="448056"/>
            <a:ext cx="438912" cy="0"/>
          </a:xfrm>
          <a:prstGeom prst="line">
            <a:avLst/>
          </a:prstGeom>
          <a:noFill/>
          <a:ln w="15240">
            <a:solidFill>
              <a:srgbClr val="33F0C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566928" y="694944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400" b="1" dirty="0">
                <a:solidFill>
                  <a:schemeClr val="bg1"/>
                </a:solidFill>
              </a:rPr>
              <a:t>Резервное и восстановление</a:t>
            </a:r>
          </a:p>
        </p:txBody>
      </p:sp>
      <p:sp>
        <p:nvSpPr>
          <p:cNvPr id="6" name="Text 3"/>
          <p:cNvSpPr/>
          <p:nvPr/>
        </p:nvSpPr>
        <p:spPr>
          <a:xfrm>
            <a:off x="5943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28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018520" y="6428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713232" y="17830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" y="2167128"/>
            <a:ext cx="5212080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Кнопка «Создать резервную копию» (доступна администратору).</a:t>
            </a:r>
          </a:p>
          <a:p>
            <a:r>
              <a:rPr lang="ru-RU" dirty="0">
                <a:solidFill>
                  <a:schemeClr val="bg1"/>
                </a:solidFill>
              </a:rPr>
              <a:t>Команда BACKUP DATABASE создаёт файл .</a:t>
            </a:r>
            <a:r>
              <a:rPr lang="ru-RU" dirty="0" err="1">
                <a:solidFill>
                  <a:schemeClr val="bg1"/>
                </a:solidFill>
              </a:rPr>
              <a:t>bak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r>
              <a:rPr lang="ru-RU" dirty="0">
                <a:solidFill>
                  <a:schemeClr val="bg1"/>
                </a:solidFill>
              </a:rPr>
              <a:t>Создано 6 копий (по дням практики). Возможность восстановления.</a:t>
            </a:r>
          </a:p>
          <a:p>
            <a:pPr marL="0" indent="0">
              <a:buNone/>
            </a:pPr>
            <a:endParaRPr lang="en-US" sz="1350" dirty="0">
              <a:solidFill>
                <a:schemeClr val="bg1"/>
              </a:solidFill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21A041B-30E9-D061-6F2B-DCFB8CBB5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095" y="1453895"/>
            <a:ext cx="5782945" cy="36283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im_a_wide_dark_tech_themed_abstract_digital_backgro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291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F0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1106424" y="448056"/>
            <a:ext cx="438912" cy="0"/>
          </a:xfrm>
          <a:prstGeom prst="line">
            <a:avLst/>
          </a:prstGeom>
          <a:noFill/>
          <a:ln w="15240">
            <a:solidFill>
              <a:srgbClr val="33F0C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566928" y="694944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800" b="1" dirty="0">
                <a:solidFill>
                  <a:schemeClr val="bg1"/>
                </a:solidFill>
              </a:rPr>
              <a:t>Заключение и результаты</a:t>
            </a:r>
          </a:p>
        </p:txBody>
      </p:sp>
      <p:sp>
        <p:nvSpPr>
          <p:cNvPr id="6" name="Text 3"/>
          <p:cNvSpPr/>
          <p:nvPr/>
        </p:nvSpPr>
        <p:spPr>
          <a:xfrm>
            <a:off x="5943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28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018520" y="6428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3A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12/14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713232" y="17830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" y="2167128"/>
            <a:ext cx="5212080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Все требования задания выполнены.</a:t>
            </a:r>
          </a:p>
          <a:p>
            <a:r>
              <a:rPr lang="ru-RU" dirty="0">
                <a:solidFill>
                  <a:schemeClr val="bg1"/>
                </a:solidFill>
              </a:rPr>
              <a:t>Разработана полноценная информационная система, готовая к демонстрации.</a:t>
            </a:r>
          </a:p>
          <a:p>
            <a:r>
              <a:rPr lang="ru-RU" dirty="0">
                <a:solidFill>
                  <a:schemeClr val="bg1"/>
                </a:solidFill>
              </a:rPr>
              <a:t>Приобретены навыки проектирования БД, программирования на C# WPF, администрирования SQL Server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448</Words>
  <Application>Microsoft Office PowerPoint</Application>
  <PresentationFormat>Широкоэкранный</PresentationFormat>
  <Paragraphs>88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Информационная система СЗР Производство</dc:title>
  <dc:subject>Защита отчёта по учебной практике ПМ.02</dc:subject>
  <dc:creator>OpenAI</dc:creator>
  <cp:lastModifiedBy>Denis Lenram</cp:lastModifiedBy>
  <cp:revision>3</cp:revision>
  <dcterms:created xsi:type="dcterms:W3CDTF">2026-05-18T14:23:49Z</dcterms:created>
  <dcterms:modified xsi:type="dcterms:W3CDTF">2026-05-25T12:37:43Z</dcterms:modified>
</cp:coreProperties>
</file>